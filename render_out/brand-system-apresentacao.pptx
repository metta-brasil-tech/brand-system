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BE18"/>
                </a:solidFill>
                <a:latin typeface="Arial"/>
              </a:rPr>
              <a:t>METTA · BRAND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Arial Black"/>
              </a:rPr>
              <a:t>Ferramenta de</a:t>
            </a:r>
          </a:p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Arial Black"/>
              </a:rPr>
              <a:t>geração de criativos.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94B5C8"/>
                </a:solidFill>
                <a:latin typeface="Arial"/>
              </a:rPr>
              <a:t>Da marca navegável ao anúncio pronto — com direção de arte, geração de imagem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94B5C8"/>
                </a:solidFill>
                <a:latin typeface="Arial"/>
              </a:rPr>
              <a:t>e QA automatizado, tudo com a identidade Metta.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35965"/>
                </a:solidFill>
                <a:latin typeface="Arial"/>
              </a:rPr>
              <a:t>Apresentação · Julho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BE18"/>
                </a:solidFill>
                <a:latin typeface="Arial"/>
              </a:rPr>
              <a:t>O QUE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2181F"/>
                </a:solidFill>
                <a:latin typeface="Arial Black"/>
              </a:rPr>
              <a:t>Um único sistema, três camadas.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3429000" cy="3931920"/>
          </a:xfrm>
          <a:prstGeom prst="rect">
            <a:avLst/>
          </a:prstGeom>
          <a:solidFill>
            <a:srgbClr val="EF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429000" cy="109728"/>
          </a:xfrm>
          <a:prstGeom prst="rect">
            <a:avLst/>
          </a:prstGeom>
          <a:solidFill>
            <a:srgbClr val="FFB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5176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2181F"/>
                </a:solidFill>
                <a:latin typeface="Arial Black"/>
              </a:rPr>
              <a:t>Marca navegável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66160"/>
            <a:ext cx="2788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2181F"/>
                </a:solidFill>
                <a:latin typeface="Arial"/>
              </a:rPr>
              <a:t>Manifesto, ICP, identidade verbal e visual, direção de arte — tudo documentado e vivo, não um PDF esquecido.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2194560"/>
            <a:ext cx="3429000" cy="3931920"/>
          </a:xfrm>
          <a:prstGeom prst="rect">
            <a:avLst/>
          </a:prstGeom>
          <a:solidFill>
            <a:srgbClr val="0A1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2194560"/>
            <a:ext cx="3429000" cy="109728"/>
          </a:xfrm>
          <a:prstGeom prst="rect">
            <a:avLst/>
          </a:prstGeom>
          <a:solidFill>
            <a:srgbClr val="FFB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65176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Arial Black"/>
              </a:rPr>
              <a:t>Gerador de criativos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566160"/>
            <a:ext cx="2788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Arial"/>
              </a:rPr>
              <a:t>Pipeline: briefing → direção de arte → geração de imagem → checagem por visão → crítico anti-slop. Duas marcas: Metta e Tiago Alves.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194560"/>
            <a:ext cx="3429000" cy="3931920"/>
          </a:xfrm>
          <a:prstGeom prst="rect">
            <a:avLst/>
          </a:prstGeom>
          <a:solidFill>
            <a:srgbClr val="EF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194560"/>
            <a:ext cx="3429000" cy="109728"/>
          </a:xfrm>
          <a:prstGeom prst="rect">
            <a:avLst/>
          </a:prstGeom>
          <a:solidFill>
            <a:srgbClr val="FFB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65176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2181F"/>
                </a:solidFill>
                <a:latin typeface="Arial Black"/>
              </a:rPr>
              <a:t>Biblioteca viva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566160"/>
            <a:ext cx="2788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2181F"/>
                </a:solidFill>
                <a:latin typeface="Arial"/>
              </a:rPr>
              <a:t>Catálogo canônico (109 peças de referência) + Criativos Gerados — tudo que a ferramenta produz, com veredito do QA documentado.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435965"/>
                </a:solidFill>
                <a:latin typeface="Arial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BE18"/>
                </a:solidFill>
                <a:latin typeface="Arial"/>
              </a:rP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 Black"/>
              </a:rPr>
              <a:t>6 etapas, do texto livre ao PNG final.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3566160" cy="1600200"/>
          </a:xfrm>
          <a:prstGeom prst="rect">
            <a:avLst/>
          </a:prstGeom>
          <a:solidFill>
            <a:srgbClr val="131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1343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BE18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706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363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B5C8"/>
                </a:solidFill>
                <a:latin typeface="Arial"/>
              </a:rPr>
              <a:t>Texto livre PT-BR vira briefing estruturado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2148840"/>
            <a:ext cx="3566160" cy="1600200"/>
          </a:xfrm>
          <a:prstGeom prst="rect">
            <a:avLst/>
          </a:prstGeom>
          <a:solidFill>
            <a:srgbClr val="131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31343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BE18"/>
                </a:solidFill>
                <a:latin typeface="Arial Blac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7706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Direção de arte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1363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B5C8"/>
                </a:solidFill>
                <a:latin typeface="Arial"/>
              </a:rPr>
              <a:t>Escolhe estilo + composição, referência do banco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148840"/>
            <a:ext cx="3566160" cy="1600200"/>
          </a:xfrm>
          <a:prstGeom prst="rect">
            <a:avLst/>
          </a:prstGeom>
          <a:solidFill>
            <a:srgbClr val="131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31343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BE18"/>
                </a:solidFill>
                <a:latin typeface="Arial Blac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706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Geração de imagem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1363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B5C8"/>
                </a:solidFill>
                <a:latin typeface="Arial"/>
              </a:rPr>
              <a:t>gpt-image-2 gera a foto, guiado por modos de falha conhecidos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40"/>
            <a:ext cx="3566160" cy="1600200"/>
          </a:xfrm>
          <a:prstGeom prst="rect">
            <a:avLst/>
          </a:prstGeom>
          <a:solidFill>
            <a:srgbClr val="131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4223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BE18"/>
                </a:solidFill>
                <a:latin typeface="Arial Black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994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Vision-QA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651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B5C8"/>
                </a:solidFill>
                <a:latin typeface="Arial"/>
              </a:rPr>
              <a:t>Uma IA olha o PNG renderizado e julga: passa ou reprova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3977640"/>
            <a:ext cx="3566160" cy="1600200"/>
          </a:xfrm>
          <a:prstGeom prst="rect">
            <a:avLst/>
          </a:prstGeom>
          <a:solidFill>
            <a:srgbClr val="131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414223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BE18"/>
                </a:solidFill>
                <a:latin typeface="Arial Black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5994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Crítico anti-slop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9651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B5C8"/>
                </a:solidFill>
                <a:latin typeface="Arial"/>
              </a:rPr>
              <a:t>Checa 16 padrões de “cara de IA genérica” contra o banco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3977640"/>
            <a:ext cx="3566160" cy="1600200"/>
          </a:xfrm>
          <a:prstGeom prst="rect">
            <a:avLst/>
          </a:prstGeom>
          <a:solidFill>
            <a:srgbClr val="131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414223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BE18"/>
                </a:solidFill>
                <a:latin typeface="Arial Black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5994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Entrega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9651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B5C8"/>
                </a:solidFill>
                <a:latin typeface="Arial"/>
              </a:rPr>
              <a:t>PNG final + HTML, pronto pra publicar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BE18"/>
                </a:solidFill>
                <a:latin typeface="Arial"/>
              </a:rPr>
              <a:t>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2181F"/>
                </a:solidFill>
                <a:latin typeface="Arial Black"/>
              </a:rPr>
              <a:t>Um hub, não um PDF.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35965"/>
                </a:solidFill>
                <a:latin typeface="Arial"/>
              </a:rPr>
              <a:t>Marca, audiência, identidade verbal/visual, direção de arte — navegável, sempre atualizado.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1060704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2057400"/>
            <a:ext cx="7022592" cy="4389120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10728655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435965"/>
                </a:solidFill>
                <a:latin typeface="Arial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BE18"/>
                </a:solidFill>
                <a:latin typeface="Arial"/>
              </a:rPr>
              <a:t>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2181F"/>
                </a:solidFill>
                <a:latin typeface="Arial Black"/>
              </a:rPr>
              <a:t>Criar começa simples.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35965"/>
                </a:solidFill>
                <a:latin typeface="Arial"/>
              </a:rPr>
              <a:t>Escolhe a marca (Metta ou Tiago) — o resto do wizard adapta tom, estilos e paleta automaticamente.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1060704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2057400"/>
            <a:ext cx="7022592" cy="4389120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10728655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435965"/>
                </a:solidFill>
                <a:latin typeface="Arial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BE18"/>
                </a:solidFill>
                <a:latin typeface="Arial"/>
              </a:rPr>
              <a:t>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8696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181F"/>
                </a:solidFill>
                <a:latin typeface="Arial Black"/>
              </a:rPr>
              <a:t>Peças reais, geradas hoje.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2468880" cy="4434840"/>
          </a:xfrm>
          <a:prstGeom prst="rect">
            <a:avLst/>
          </a:prstGeom>
          <a:solidFill>
            <a:srgbClr val="EF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-retrato-autoridade-met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434590"/>
            <a:ext cx="2359152" cy="2948940"/>
          </a:xfrm>
          <a:prstGeom prst="rect">
            <a:avLst/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3493008" y="1691640"/>
            <a:ext cx="2468880" cy="4434840"/>
          </a:xfrm>
          <a:prstGeom prst="rect">
            <a:avLst/>
          </a:prstGeom>
          <a:solidFill>
            <a:srgbClr val="EF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ght-surreal-escada-escalam-estacion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2434590"/>
            <a:ext cx="2359152" cy="2948940"/>
          </a:xfrm>
          <a:prstGeom prst="rect">
            <a:avLst/>
          </a:prstGeom>
          <a:effectLst/>
        </p:spPr>
      </p:pic>
      <p:sp>
        <p:nvSpPr>
          <p:cNvPr id="9" name="Rectangle 8"/>
          <p:cNvSpPr/>
          <p:nvPr/>
        </p:nvSpPr>
        <p:spPr>
          <a:xfrm>
            <a:off x="6163056" y="1691640"/>
            <a:ext cx="2468880" cy="4434840"/>
          </a:xfrm>
          <a:prstGeom prst="rect">
            <a:avLst/>
          </a:prstGeom>
          <a:solidFill>
            <a:srgbClr val="EF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yellow-bloco-convite-mentor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434590"/>
            <a:ext cx="2359152" cy="2948940"/>
          </a:xfrm>
          <a:prstGeom prst="rect">
            <a:avLst/>
          </a:prstGeom>
          <a:effectLst/>
        </p:spPr>
      </p:pic>
      <p:sp>
        <p:nvSpPr>
          <p:cNvPr id="11" name="Rectangle 10"/>
          <p:cNvSpPr/>
          <p:nvPr/>
        </p:nvSpPr>
        <p:spPr>
          <a:xfrm>
            <a:off x="8833104" y="1691640"/>
            <a:ext cx="2468880" cy="4434840"/>
          </a:xfrm>
          <a:prstGeom prst="rect">
            <a:avLst/>
          </a:prstGeom>
          <a:solidFill>
            <a:srgbClr val="EF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ago-story-hero-foto-real-estrutu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68" y="1812036"/>
            <a:ext cx="2359152" cy="4194048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35965"/>
                </a:solidFill>
                <a:latin typeface="Arial"/>
              </a:rPr>
              <a:t>Todas passaram por checagem de visão (vision-QA) e crítico anti-slop antes de entrar aqui.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435965"/>
                </a:solidFill>
                <a:latin typeface="Arial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BE18"/>
                </a:solidFill>
                <a:latin typeface="Arial"/>
              </a:rPr>
              <a:t>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2181F"/>
                </a:solidFill>
                <a:latin typeface="Arial Black"/>
              </a:rPr>
              <a:t>Biblioteca de Criativos Gerados.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35965"/>
                </a:solidFill>
                <a:latin typeface="Arial"/>
              </a:rPr>
              <a:t>Toda peça que a ferramenta produz fica registrada — com o veredito do QA, não só a imagem.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1060704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2057400"/>
            <a:ext cx="7022592" cy="4389120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10728655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435965"/>
                </a:solidFill>
                <a:latin typeface="Arial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BE18"/>
                </a:solidFill>
                <a:latin typeface="Arial"/>
              </a:rPr>
              <a:t>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2181F"/>
                </a:solidFill>
                <a:latin typeface="Arial Black"/>
              </a:rPr>
              <a:t>+ Catálogo canônico: 109 referências.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35965"/>
                </a:solidFill>
                <a:latin typeface="Arial"/>
              </a:rPr>
              <a:t>Banco vivo de peças aprovadas — é o que a IA usa como referência de “mesmo designer”.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1060704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2057400"/>
            <a:ext cx="7022592" cy="4389120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10728655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435965"/>
                </a:solidFill>
                <a:latin typeface="Arial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BE18"/>
                </a:solidFill>
                <a:latin typeface="Arial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 Black"/>
              </a:rPr>
              <a:t>O que vem a seguir.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95728"/>
            <a:ext cx="128016" cy="128016"/>
          </a:xfrm>
          <a:prstGeom prst="rect">
            <a:avLst/>
          </a:prstGeom>
          <a:solidFill>
            <a:srgbClr val="FFB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860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Direção de série completa (paletas P1–P10, guardrails C1–C8) — recuperada do backup, aguardando merge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64408"/>
            <a:ext cx="128016" cy="128016"/>
          </a:xfrm>
          <a:prstGeom prst="rect">
            <a:avLst/>
          </a:prstGeom>
          <a:solidFill>
            <a:srgbClr val="FFB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546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Recompositor full-bleed — resolve o padrão de foto cortando a pessoa no meio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33088"/>
            <a:ext cx="128016" cy="128016"/>
          </a:xfrm>
          <a:prstGeom prst="rect">
            <a:avLst/>
          </a:prstGeom>
          <a:solidFill>
            <a:srgbClr val="FFB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02336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Mais fotos reais do Tiago (bastidor/selfie) para os modelos que exigem foto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001768"/>
            <a:ext cx="128016" cy="128016"/>
          </a:xfrm>
          <a:prstGeom prst="rect">
            <a:avLst/>
          </a:prstGeom>
          <a:solidFill>
            <a:srgbClr val="FFB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89204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Calibrar o crítico pra comparar só com referências da mesma família de paleta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